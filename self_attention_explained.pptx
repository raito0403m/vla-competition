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834640"/>
            <a:ext cx="2286000" cy="381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eiryo"/>
              </a:rPr>
              <a:t>Self-Attentionの仕組み</a:t>
            </a:r>
          </a:p>
          <a:p>
            <a:pPr algn="l">
              <a:spcBef>
                <a:spcPts val="2400"/>
              </a:spcBef>
              <a:spcAft>
                <a:spcPts val="200"/>
              </a:spcAft>
            </a:pPr>
            <a:r>
              <a:rPr sz="2000" b="0" i="0">
                <a:solidFill>
                  <a:srgbClr val="6C757D"/>
                </a:solidFill>
                <a:latin typeface="Meiryo"/>
              </a:rPr>
              <a:t>直観と数式と手計算で理解する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Self-Attentionがやっていることの核心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43A40"/>
                </a:solidFill>
                <a:latin typeface="Meiryo"/>
              </a:rPr>
              <a:t>各トークンが「列全体のどこを参照すべきか」を自分で決め、参照結果を取り込んで</a:t>
            </a:r>
            <a:r>
              <a:rPr sz="1900" b="1" i="0">
                <a:solidFill>
                  <a:srgbClr val="0D6EFD"/>
                </a:solidFill>
                <a:latin typeface="Meiryo"/>
              </a:rPr>
              <a:t>文脈化された表現</a:t>
            </a:r>
            <a:r>
              <a:rPr sz="1900" b="0" i="0">
                <a:solidFill>
                  <a:srgbClr val="343A40"/>
                </a:solidFill>
                <a:latin typeface="Meiryo"/>
              </a:rPr>
              <a:t>に更新する仕組み。</a:t>
            </a:r>
          </a:p>
        </p:txBody>
      </p:sp>
      <p:pic>
        <p:nvPicPr>
          <p:cNvPr id="7" name="Picture 6" descr="eq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286000"/>
            <a:ext cx="7040880" cy="9144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960120" y="3474720"/>
            <a:ext cx="457200" cy="4572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4747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212529"/>
                </a:solidFill>
                <a:latin typeface="Meiryo"/>
              </a:rPr>
              <a:t>類似度スコアを計算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40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C757D"/>
                </a:solidFill>
                <a:latin typeface="Meiryo"/>
              </a:rPr>
              <a:t>各トークンの Query と、全トークンの Key の内積を取る。内積が大きいほど「方向が揃っている＝相性が良い」ことを意味する。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572000"/>
            <a:ext cx="457200" cy="4572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5720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212529"/>
                </a:solidFill>
                <a:latin typeface="Meiryo"/>
              </a:rPr>
              <a:t>Softmax で重みに変換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937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C757D"/>
                </a:solidFill>
                <a:latin typeface="Meiryo"/>
              </a:rPr>
              <a:t>内積スコアを sqrt(d_k) で割ってから softmax を適用。全トークンへの重みが 0〜1 の確率分布になる（和 = 1）。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5669279"/>
            <a:ext cx="457200" cy="4572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669279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212529"/>
                </a:solidFill>
                <a:latin typeface="Meiryo"/>
              </a:rPr>
              <a:t>Value の加重和で出力を作る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6035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C757D"/>
                </a:solidFill>
                <a:latin typeface="Meiryo"/>
              </a:rPr>
              <a:t>重みに従って全トークンの Value をブレンド（加重和）。結果が「文脈を取り込んだ新しい表現」になる。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Self-Attention が生まれるまで — RNN/LSTMの限界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700" b="1" i="0">
                <a:solidFill>
                  <a:srgbClr val="FD7E14"/>
                </a:solidFill>
                <a:latin typeface="Meiryo"/>
              </a:rPr>
              <a:t>RNN (2014以前)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</a:pPr>
            <a:r>
              <a:rPr sz="1400" b="0" i="0">
                <a:solidFill>
                  <a:srgbClr val="343A40"/>
                </a:solidFill>
                <a:latin typeface="Meiryo"/>
              </a:rPr>
              <a:t>単語を1つずつ順番に処理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6C757D"/>
                </a:solidFill>
                <a:latin typeface="Meiryo"/>
              </a:rPr>
              <a:t>逐次処理 → GPU並列化できず
学習が遅い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700" b="1" i="0">
                <a:solidFill>
                  <a:srgbClr val="FD7E14"/>
                </a:solidFill>
                <a:latin typeface="Meiryo"/>
              </a:rPr>
              <a:t>LSTM / GRU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</a:pPr>
            <a:r>
              <a:rPr sz="1400" b="0" i="0">
                <a:solidFill>
                  <a:srgbClr val="343A40"/>
                </a:solidFill>
                <a:latin typeface="Meiryo"/>
              </a:rPr>
              <a:t>ゲート機構で長期記憶を改善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6C757D"/>
                </a:solidFill>
                <a:latin typeface="Meiryo"/>
              </a:rPr>
              <a:t>逐次処理は変わらず
100語超で依存関係が薄れる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700" b="1" i="0">
                <a:solidFill>
                  <a:srgbClr val="198754"/>
                </a:solidFill>
                <a:latin typeface="Meiryo"/>
              </a:rPr>
              <a:t>Attention (2014)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</a:pPr>
            <a:r>
              <a:rPr sz="1400" b="0" i="0">
                <a:solidFill>
                  <a:srgbClr val="343A40"/>
                </a:solidFill>
                <a:latin typeface="Meiryo"/>
              </a:rPr>
              <a:t>Bahdanau: RNNの出力に
Attentionを追加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6C757D"/>
                </a:solidFill>
                <a:latin typeface="Meiryo"/>
              </a:rPr>
              <a:t>遠い単語も直接参照できた
ただしRNNの上に載せる形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0D6EFD"/>
                </a:solidFill>
                <a:latin typeface="Meiryo"/>
              </a:rPr>
              <a:t>2017 — "Attention Is All You Need" (Vaswani et al.)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12529"/>
                </a:solidFill>
                <a:latin typeface="Meiryo"/>
              </a:rPr>
              <a:t>気づき: </a:t>
            </a:r>
            <a:r>
              <a:rPr sz="1800" b="0" i="0">
                <a:solidFill>
                  <a:srgbClr val="343A40"/>
                </a:solidFill>
                <a:latin typeface="Meiryo"/>
              </a:rPr>
              <a:t>Bahdanau Attentionの実験で、長距離の依存関係を捉えていたのは</a:t>
            </a:r>
            <a:r>
              <a:rPr sz="1800" b="1" i="0">
                <a:solidFill>
                  <a:srgbClr val="212529"/>
                </a:solidFill>
                <a:latin typeface="Meiryo"/>
              </a:rPr>
              <a:t>RNNではなくAttention部分</a:t>
            </a:r>
            <a:r>
              <a:rPr sz="1800" b="0" i="0">
                <a:solidFill>
                  <a:srgbClr val="343A40"/>
                </a:solidFill>
                <a:latin typeface="Meiryo"/>
              </a:rPr>
              <a:t>だった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800" b="0" i="0">
                <a:solidFill>
                  <a:srgbClr val="343A40"/>
                </a:solidFill>
                <a:latin typeface="Meiryo"/>
              </a:rPr>
              <a:t>→ RNNはもはやボトルネック。</a:t>
            </a:r>
            <a:r>
              <a:rPr sz="1800" b="1" i="0">
                <a:solidFill>
                  <a:srgbClr val="212529"/>
                </a:solidFill>
                <a:latin typeface="Meiryo"/>
              </a:rPr>
              <a:t>Attentionだけで系列を処理すればいい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800" b="0" i="0">
                <a:solidFill>
                  <a:srgbClr val="343A40"/>
                </a:solidFill>
                <a:latin typeface="Meiryo"/>
              </a:rPr>
              <a:t>→ 全トークンが全トークンを直接参照（逐次処理なし、行列積で一括計算）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Self-Attention は何をするのか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0D6EFD"/>
                </a:solidFill>
                <a:latin typeface="Meiryo"/>
              </a:rPr>
              <a:t>問題: 単語の埋め込みは「文脈を知らない」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515600" cy="17373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  "neko" -&gt; x_neko = [0.2, 0.8, ...]    always the same vector!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  "neko ga sakana wo tabeta"    &lt;- neko = subject (doer)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  "inu  ga neko   wo oikaketa"  &lt;- neko = object  (chased)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43A40"/>
                </a:solidFill>
                <a:latin typeface="Meiryo"/>
              </a:rPr>
              <a:t>「猫」の役割は周囲の単語で決まる。</a:t>
            </a:r>
            <a:r>
              <a:rPr sz="1900" b="1" i="0">
                <a:solidFill>
                  <a:srgbClr val="212529"/>
                </a:solidFill>
                <a:latin typeface="Meiryo"/>
              </a:rPr>
              <a:t>でも埋め込みベクトルは常に同じ。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900" b="0" i="0">
                <a:solidFill>
                  <a:srgbClr val="343A40"/>
                </a:solidFill>
                <a:latin typeface="Meiryo"/>
              </a:rPr>
              <a:t>→ 周囲の単語の情報を取り込んで、文脈に合った表現に更新したい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212529"/>
                </a:solidFill>
                <a:latin typeface="Meiryo"/>
              </a:rPr>
              <a:t>でも「全員の情報を均等に混ぜる」のではダメ: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343A40"/>
                </a:solidFill>
                <a:latin typeface="Meiryo"/>
              </a:rPr>
              <a:t>「猫が魚を食べた」で「食べた」を更新するとき、</a:t>
            </a:r>
            <a:r>
              <a:rPr sz="1700" b="1" i="0">
                <a:solidFill>
                  <a:srgbClr val="343A40"/>
                </a:solidFill>
                <a:latin typeface="Meiryo"/>
              </a:rPr>
              <a:t>「猫」(主語)と「を」(助詞)では重要度が全然違う。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343A40"/>
                </a:solidFill>
                <a:latin typeface="Meiryo"/>
              </a:rPr>
              <a:t>→ トークンごとに「誰がどれくらい重要か」をスコア化する仕組みが要る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84EB5"/>
                </a:solidFill>
                <a:latin typeface="Meiryo"/>
              </a:rPr>
              <a:t>Self-Attention = 各トークンが「誰の情報をどれだけ取り込むか」のスコアを計算し、重み付きで混ぜる仕組み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Query / Key / Value の直感的な意味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212529"/>
                </a:solidFill>
                <a:latin typeface="Meiryo"/>
              </a:rPr>
              <a:t>入力 x とは: 各トークン(単語)を表す数値ベクトル(埋め込み)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515600" cy="13716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input:  [neko]  [ga]  [sakana]  [wo]  [tabeta]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each token -&gt; embedding vector (d-dim, learned):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  x_neko = [0.2, 0.8, ...]   x_tabeta = [0.5, 0.4, ...]  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212529"/>
                </a:solidFill>
                <a:latin typeface="Meiryo"/>
              </a:rPr>
              <a:t>各トークンの x に重み行列を掛けて、3つの役割に変換: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515600" cy="20116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 i="0">
                <a:solidFill>
                  <a:srgbClr val="CDD6F4"/>
                </a:solidFill>
                <a:latin typeface="Consolas"/>
              </a:rPr>
              <a:t>x_tabeta * W_Q -&gt; q_tabeta   Q: "who did the eating? what was eaten?"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i="0">
                <a:solidFill>
                  <a:srgbClr val="CDD6F4"/>
                </a:solidFill>
                <a:latin typeface="Consolas"/>
              </a:rPr>
              <a:t>x_tabeta * W_K -&gt; k_tabeta   K: "I am: a verb, action"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i="0">
                <a:solidFill>
                  <a:srgbClr val="CDD6F4"/>
                </a:solidFill>
                <a:latin typeface="Consolas"/>
              </a:rPr>
              <a:t>x_tabeta * W_V -&gt; v_tabeta   V: (meaning of tabeta to share)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i="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i="0">
                <a:solidFill>
                  <a:srgbClr val="CDD6F4"/>
                </a:solidFill>
                <a:latin typeface="Consolas"/>
              </a:rPr>
              <a:t>x_neko   * W_Q -&gt; q_neko     Q: "what action applies to me?"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i="0">
                <a:solidFill>
                  <a:srgbClr val="CDD6F4"/>
                </a:solidFill>
                <a:latin typeface="Consolas"/>
              </a:rPr>
              <a:t>x_neko   * W_K -&gt; k_neko     K: "I am: a noun, subject"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i="0">
                <a:solidFill>
                  <a:srgbClr val="CDD6F4"/>
                </a:solidFill>
                <a:latin typeface="Consolas"/>
              </a:rPr>
              <a:t>x_neko   * W_V -&gt; v_neko     V: (meaning of neko to share)</a:t>
            </a:r>
          </a:p>
        </p:txBody>
      </p:sp>
      <p:pic>
        <p:nvPicPr>
          <p:cNvPr id="10" name="Picture 9" descr="eq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669280"/>
            <a:ext cx="758952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84EB5"/>
                </a:solidFill>
                <a:latin typeface="Meiryo"/>
              </a:rPr>
              <a:t>q_tabeta と k_neko の内積が大きい → 「食べた」は「猫」の情報(v_neko)を多く取り込む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類似度スコアはなぜ「内積」なのか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12529"/>
                </a:solidFill>
                <a:latin typeface="Meiryo"/>
              </a:rPr>
              <a:t>やりたいこと: </a:t>
            </a:r>
            <a:r>
              <a:rPr sz="1900" b="0" i="0">
                <a:solidFill>
                  <a:srgbClr val="343A40"/>
                </a:solidFill>
                <a:latin typeface="Meiryo"/>
              </a:rPr>
              <a:t>2つのベクトル(q, k)の「相性」を</a:t>
            </a:r>
            <a:r>
              <a:rPr sz="1900" b="1" i="0">
                <a:solidFill>
                  <a:srgbClr val="0D6EFD"/>
                </a:solidFill>
                <a:latin typeface="Meiryo"/>
              </a:rPr>
              <a:t>1つの数字</a:t>
            </a:r>
            <a:r>
              <a:rPr sz="1900" b="0" i="0">
                <a:solidFill>
                  <a:srgbClr val="343A40"/>
                </a:solidFill>
                <a:latin typeface="Meiryo"/>
              </a:rPr>
              <a:t>にしたい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 b="1" i="0">
                <a:solidFill>
                  <a:srgbClr val="343A40"/>
                </a:solidFill>
                <a:latin typeface="Meiryo"/>
              </a:rPr>
              <a:t>ユークリッド距離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</a:pPr>
            <a:r>
              <a:rPr sz="1300" b="0" i="0">
                <a:solidFill>
                  <a:srgbClr val="343A40"/>
                </a:solidFill>
                <a:latin typeface="Meiryo"/>
              </a:rPr>
              <a:t>||q - k||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6C757D"/>
                </a:solidFill>
                <a:latin typeface="Meiryo"/>
              </a:rPr>
              <a:t>方向が同じでも長さが違うと遠くなる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92024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 b="1" i="0">
                <a:solidFill>
                  <a:srgbClr val="343A40"/>
                </a:solidFill>
                <a:latin typeface="Meiryo"/>
              </a:rPr>
              <a:t>コサイン類似度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</a:pPr>
            <a:r>
              <a:rPr sz="1300" b="0" i="0">
                <a:solidFill>
                  <a:srgbClr val="343A40"/>
                </a:solidFill>
                <a:latin typeface="Meiryo"/>
              </a:rPr>
              <a:t>cos(θ)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6C757D"/>
                </a:solidFill>
                <a:latin typeface="Meiryo"/>
              </a:rPr>
              <a:t>方向だけ見る。良いが正規化が一手間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2651760" cy="2377440"/>
          </a:xfrm>
          <a:prstGeom prst="roundRect">
            <a:avLst/>
          </a:prstGeom>
          <a:solidFill>
            <a:srgbClr val="E7F1FF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 b="1" i="0">
                <a:solidFill>
                  <a:srgbClr val="0D6EFD"/>
                </a:solidFill>
                <a:latin typeface="Meiryo"/>
              </a:rPr>
              <a:t>内積  q · k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</a:pPr>
            <a:r>
              <a:rPr sz="1300" b="0" i="0">
                <a:solidFill>
                  <a:srgbClr val="343A40"/>
                </a:solidFill>
                <a:latin typeface="Meiryo"/>
              </a:rPr>
              <a:t>方向+長さ→スコア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198754"/>
                </a:solidFill>
                <a:latin typeface="Meiryo"/>
              </a:rPr>
              <a:t>行列積 QK^T で全ペア一括計算!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92024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 b="1" i="0">
                <a:solidFill>
                  <a:srgbClr val="343A40"/>
                </a:solidFill>
                <a:latin typeface="Meiryo"/>
              </a:rPr>
              <a:t>学習したMLP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</a:pPr>
            <a:r>
              <a:rPr sz="1300" b="0" i="0">
                <a:solidFill>
                  <a:srgbClr val="343A40"/>
                </a:solidFill>
                <a:latin typeface="Meiryo"/>
              </a:rPr>
              <a:t>MLP(q, k)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6C757D"/>
                </a:solidFill>
                <a:latin typeface="Meiryo"/>
              </a:rPr>
              <a:t>表現力は高いが計算が重すぎる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84EB5"/>
                </a:solidFill>
                <a:latin typeface="Meiryo"/>
              </a:rPr>
              <a:t>Transformerが内積を選んだ最大の理由: QK^T の1回の行列積で全トークンペアのスコアが同時に出る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内積 = 「ベクトルの方向が揃っているか」を測る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q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97280"/>
            <a:ext cx="5760720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>
                <a:solidFill>
                  <a:srgbClr val="343A40"/>
                </a:solidFill>
                <a:latin typeface="Meiryo"/>
              </a:rPr>
              <a:t>同じ方向 → 大きい正　　直角 → 0　　逆方向 → 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212529"/>
                </a:solidFill>
                <a:latin typeface="Meiryo"/>
              </a:rPr>
              <a:t>2次元の具体例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515600" cy="21031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q  = [ 3, 0]                                  (right-pointing vector)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k1 = [ 2, 0]   q.k1 = 3* 2 + 0*0 =  6        same direction  -&gt; large +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k2 = [ 0, 2]   q.k2 = 3* 0 + 0*2 =  0        orthogonal      -&gt; zero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k3 = [-1, 0]   q.k3 = 3*-1 + 0*0 = -3        opposite        -&gt; negative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84EB5"/>
                </a:solidFill>
                <a:latin typeface="Meiryo"/>
              </a:rPr>
              <a:t>内積そのものは「方向の一致度を測る」だけの単純な演算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学習(W_Q, W_K)が内積に意味のある相性を与える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43A40"/>
                </a:solidFill>
                <a:latin typeface="Meiryo"/>
              </a:rPr>
              <a:t>元の埋め込みをそのまま内積しても意味のある「相性」にはならない。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900" b="1" i="0">
                <a:solidFill>
                  <a:srgbClr val="212529"/>
                </a:solidFill>
                <a:latin typeface="Meiryo"/>
              </a:rPr>
              <a:t>だから W_Q と W_K で「内積を取る前に」ベクトルを変換する。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286000"/>
            <a:ext cx="8503920" cy="21031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x_i                  x_j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 |                    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 | * W_Q              | * W_K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 v                    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q_i                  k_j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          \       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       q_i . k_j  = 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212529"/>
                </a:solidFill>
                <a:latin typeface="Meiryo"/>
              </a:rPr>
              <a:t>まとめ: 類似度スコアと内積の間にあるもの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600" b="1" i="0">
                <a:solidFill>
                  <a:srgbClr val="0D6EFD"/>
                </a:solidFill>
                <a:latin typeface="Meiryo"/>
              </a:rPr>
              <a:t>① 目的: </a:t>
            </a:r>
            <a:r>
              <a:rPr sz="1600" b="0" i="0">
                <a:solidFill>
                  <a:srgbClr val="343A40"/>
                </a:solidFill>
                <a:latin typeface="Meiryo"/>
              </a:rPr>
              <a:t>2つのベクトルの相性を1つの数字にしたい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600" b="1" i="0">
                <a:solidFill>
                  <a:srgbClr val="0D6EFD"/>
                </a:solidFill>
                <a:latin typeface="Meiryo"/>
              </a:rPr>
              <a:t>② 性質: </a:t>
            </a:r>
            <a:r>
              <a:rPr sz="1600" b="0" i="0">
                <a:solidFill>
                  <a:srgbClr val="343A40"/>
                </a:solidFill>
                <a:latin typeface="Meiryo"/>
              </a:rPr>
              <a:t>内積は「方向の一致度」を測れる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600" b="1" i="0">
                <a:solidFill>
                  <a:srgbClr val="0D6EFD"/>
                </a:solidFill>
                <a:latin typeface="Meiryo"/>
              </a:rPr>
              <a:t>③ 効率: </a:t>
            </a:r>
            <a:r>
              <a:rPr sz="1600" b="0" i="0">
                <a:solidFill>
                  <a:srgbClr val="343A40"/>
                </a:solidFill>
                <a:latin typeface="Meiryo"/>
              </a:rPr>
              <a:t>行列積で全ペア一括計算 (GPU最適)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600" b="1" i="0">
                <a:solidFill>
                  <a:srgbClr val="0D6EFD"/>
                </a:solidFill>
                <a:latin typeface="Meiryo"/>
              </a:rPr>
              <a:t>④ 学習: </a:t>
            </a:r>
            <a:r>
              <a:rPr sz="1600" b="0" i="0">
                <a:solidFill>
                  <a:srgbClr val="343A40"/>
                </a:solidFill>
                <a:latin typeface="Meiryo"/>
              </a:rPr>
              <a:t>W_Q, W_K で事前に変換する → 生の埋め込みの内積ではない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なぜ sqrt(d_k) で割るのか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 i="0">
                <a:solidFill>
                  <a:srgbClr val="343A40"/>
                </a:solidFill>
                <a:latin typeface="Meiryo"/>
              </a:rPr>
              <a:t>内積は各成分の積の合計:</a:t>
            </a:r>
          </a:p>
        </p:txBody>
      </p:sp>
      <p:pic>
        <p:nvPicPr>
          <p:cNvPr id="7" name="Picture 6" descr="eq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4572000" cy="731520"/>
          </a:xfrm>
          <a:prstGeom prst="rect">
            <a:avLst/>
          </a:prstGeom>
        </p:spPr>
      </p:pic>
      <p:pic>
        <p:nvPicPr>
          <p:cNvPr id="8" name="Picture 7" descr="eq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37360"/>
            <a:ext cx="411480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743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 i="0">
                <a:solidFill>
                  <a:srgbClr val="343A40"/>
                </a:solidFill>
                <a:latin typeface="Meiryo"/>
              </a:rPr>
              <a:t>d_k が増える → </a:t>
            </a:r>
            <a:r>
              <a:rPr sz="1800" b="0" i="0">
                <a:solidFill>
                  <a:srgbClr val="343A40"/>
                </a:solidFill>
                <a:latin typeface="Meiryo"/>
              </a:rPr>
              <a:t>足し算の項が増え、内積の値が大きくなる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 i="0">
                <a:solidFill>
                  <a:srgbClr val="343A40"/>
                </a:solidFill>
                <a:latin typeface="Meiryo"/>
              </a:rPr>
              <a:t>内積が巨大 → </a:t>
            </a:r>
            <a:r>
              <a:rPr sz="1800" b="0" i="0">
                <a:solidFill>
                  <a:srgbClr val="343A40"/>
                </a:solidFill>
                <a:latin typeface="Meiryo"/>
              </a:rPr>
              <a:t>softmaxが飽和 (ほぼ0か1) → 勾配が消える</a:t>
            </a:r>
          </a:p>
        </p:txBody>
      </p:sp>
      <p:pic>
        <p:nvPicPr>
          <p:cNvPr id="10" name="Picture 9" descr="eq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389120"/>
            <a:ext cx="5486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84EB5"/>
                </a:solidFill>
                <a:latin typeface="Meiryo"/>
              </a:rPr>
              <a:t>分散を1に戻してsoftmaxの飽和を防ぎ、学習を安定させる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Softmax → 加重和 で「情報を取り込む」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212529"/>
                </a:solidFill>
                <a:latin typeface="Meiryo"/>
              </a:rPr>
              <a:t>Softmaxで重みにする理由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343A40"/>
                </a:solidFill>
                <a:latin typeface="Meiryo"/>
              </a:rPr>
              <a:t>重みが正 &amp; 和が1 → </a:t>
            </a:r>
            <a:r>
              <a:rPr sz="1700" b="0" i="0">
                <a:solidFill>
                  <a:srgbClr val="343A40"/>
                </a:solidFill>
                <a:latin typeface="Meiryo"/>
              </a:rPr>
              <a:t>Valueの凸結合、スケール安定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343A40"/>
                </a:solidFill>
                <a:latin typeface="Meiryo"/>
              </a:rPr>
              <a:t>勝者を強調 → </a:t>
            </a:r>
            <a:r>
              <a:rPr sz="1700" b="0" i="0">
                <a:solidFill>
                  <a:srgbClr val="343A40"/>
                </a:solidFill>
                <a:latin typeface="Meiryo"/>
              </a:rPr>
              <a:t>指数で差が広がり鋭く選べる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343A40"/>
                </a:solidFill>
                <a:latin typeface="Meiryo"/>
              </a:rPr>
              <a:t>微分可能 → </a:t>
            </a:r>
            <a:r>
              <a:rPr sz="1700" b="0" i="0">
                <a:solidFill>
                  <a:srgbClr val="343A40"/>
                </a:solidFill>
                <a:latin typeface="Meiryo"/>
              </a:rPr>
              <a:t>誤差逆伝播で学習できる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212529"/>
                </a:solidFill>
                <a:latin typeface="Meiryo"/>
              </a:rPr>
              <a:t>加重和 = 情報の取り込み</a:t>
            </a:r>
          </a:p>
        </p:txBody>
      </p:sp>
      <p:pic>
        <p:nvPicPr>
          <p:cNvPr id="9" name="Picture 8" descr="eq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11480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343A40"/>
                </a:solidFill>
                <a:latin typeface="Meiryo"/>
              </a:rPr>
              <a:t>a_ij が大きいほど </a:t>
            </a:r>
            <a:r>
              <a:rPr sz="1700" b="0" i="0">
                <a:solidFill>
                  <a:srgbClr val="343A40"/>
                </a:solidFill>
                <a:latin typeface="Meiryo"/>
              </a:rPr>
              <a:t>トークン j の情報が強く混ざる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343A40"/>
                </a:solidFill>
                <a:latin typeface="Meiryo"/>
              </a:rPr>
              <a:t>y_i = </a:t>
            </a:r>
            <a:r>
              <a:rPr sz="1700" b="0" i="0">
                <a:solidFill>
                  <a:srgbClr val="343A40"/>
                </a:solidFill>
                <a:latin typeface="Meiryo"/>
              </a:rPr>
              <a:t>列全体を見た上での要約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84EB5"/>
                </a:solidFill>
                <a:latin typeface="Meiryo"/>
              </a:rPr>
              <a:t>本質: 「どの相手から情報をコピー/ブレンドするか」を学習する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Self-Attention 全体の流れ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097280"/>
            <a:ext cx="941832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token embedding  x_i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    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    +-- x * W_Q --&gt; q_i        (Query)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    +-- x * W_K --&gt; k_i        (Key)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    +-- x * W_V --&gt; v_i        (Value)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    q_i . k_j  =  score        ... (1) similarity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        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        / sqrt(d_k)            ... scaling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        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        softmax                ... (2) weights (0~1, sum=1)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        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        sum( a_ij * v_j )      ... (3) weighted sum of Values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        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        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700" b="0" i="0">
                <a:solidFill>
                  <a:srgbClr val="CDD6F4"/>
                </a:solidFill>
                <a:latin typeface="Consolas"/>
              </a:rPr>
              <a:t>        y_i  =  context-aware representation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これが全トークンで同時に起きる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343A40"/>
                </a:solidFill>
                <a:latin typeface="Meiryo"/>
              </a:rPr>
              <a:t>前スライドの流れは「1つのトークンを更新する」手順だった。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212529"/>
                </a:solidFill>
                <a:latin typeface="Meiryo"/>
              </a:rPr>
              <a:t>Self-Attention では全トークンが同時に Q, K, V を出し、全員が全員を参照する: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51560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each token produces all three: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A -&gt; q_A, k_A, v_A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B -&gt; q_B, k_B, v_B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C -&gt; q_C, k_C, v_C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515600" cy="17373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new A = q_A vs [k_A, k_B, k_C] -&gt; weighted sum of [v_A, v_B, v_C]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new B = q_B vs [k_A, k_B, k_C] -&gt; weighted sum of [v_A, v_B, v_C]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new C = q_C vs [k_A, k_B, k_C] -&gt; weighted sum of [v_A, v_B, v_C]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              ^^^^^^^^^^^^^^^^^^^   all Keys/Values are shared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84EB5"/>
                </a:solidFill>
                <a:latin typeface="Meiryo"/>
              </a:rPr>
              <a:t>行列積 QK^T ひとつで全ペアのスコアが同時に計算される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手計算: 入力と重み行列の設定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0">
                <a:solidFill>
                  <a:srgbClr val="6C757D"/>
                </a:solidFill>
                <a:latin typeface="Meiryo"/>
              </a:rPr>
              <a:t>3トークン, 2次元で全要素を明示して最後まで計算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Input X (3x2):         Weight matrices (2x2 each, learned):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|1  0|  &lt;- tok1        W_Q = |1 0|    W_K = |1 1|    W_V = |2 0|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|0  1|  &lt;- tok2              |1 1|          |0 1|          |0 1|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|1  1|  &lt;- tok3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 i="0">
                <a:solidFill>
                  <a:srgbClr val="212529"/>
                </a:solidFill>
                <a:latin typeface="Meiryo"/>
              </a:rPr>
              <a:t>Step 1: Q, K, V を計算</a:t>
            </a:r>
          </a:p>
        </p:txBody>
      </p:sp>
      <p:pic>
        <p:nvPicPr>
          <p:cNvPr id="9" name="Picture 8" descr="eq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2011680" cy="411480"/>
          </a:xfrm>
          <a:prstGeom prst="rect">
            <a:avLst/>
          </a:prstGeom>
        </p:spPr>
      </p:pic>
      <p:pic>
        <p:nvPicPr>
          <p:cNvPr id="10" name="Picture 9" descr="eq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114800"/>
            <a:ext cx="2011680" cy="411480"/>
          </a:xfrm>
          <a:prstGeom prst="rect">
            <a:avLst/>
          </a:prstGeom>
        </p:spPr>
      </p:pic>
      <p:pic>
        <p:nvPicPr>
          <p:cNvPr id="11" name="Picture 10" descr="eq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4114800"/>
            <a:ext cx="2011680" cy="4114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4663440"/>
            <a:ext cx="2743200" cy="10972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|1  0|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|1  1|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|2  1|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4663440"/>
            <a:ext cx="2743200" cy="10972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|1  1|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|0  1|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|1  2|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663440"/>
            <a:ext cx="2743200" cy="10972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|2  0|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|0  1|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|2  1|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手計算: スコア行列とスケーリング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 i="0">
                <a:solidFill>
                  <a:srgbClr val="212529"/>
                </a:solidFill>
                <a:latin typeface="Meiryo"/>
              </a:rPr>
              <a:t>Step 2: 内積で相性を測る</a:t>
            </a:r>
          </a:p>
        </p:txBody>
      </p:sp>
      <p:pic>
        <p:nvPicPr>
          <p:cNvPr id="7" name="Picture 6" descr="eq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2286000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474720" y="1554480"/>
            <a:ext cx="7772400" cy="13716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S = |1 0| x |1 0 1| = |1  0  1|  tok1: high w/ 1,3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    |1 1|   |1 1 2|   |2  1  3|  tok2: highest at 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    |2 1|             |3  1  4|  tok3: highest at 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6C757D"/>
                </a:solidFill>
                <a:latin typeface="Meiryo"/>
              </a:rPr>
              <a:t>S_ij = トークン i の Query と トークン j の Key の内積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 i="0">
                <a:solidFill>
                  <a:srgbClr val="212529"/>
                </a:solidFill>
                <a:latin typeface="Meiryo"/>
              </a:rPr>
              <a:t>Step 3: スケーリング</a:t>
            </a:r>
          </a:p>
        </p:txBody>
      </p:sp>
      <p:pic>
        <p:nvPicPr>
          <p:cNvPr id="11" name="Picture 10" descr="eq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06240"/>
            <a:ext cx="3200400" cy="8229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0" y="4206240"/>
            <a:ext cx="6675120" cy="10972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|0.707   0       0.707|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|1.414   0.707   2.121|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|2.121   0.707   2.828|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手計算: Softmax → 重み行列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 i="0">
                <a:solidFill>
                  <a:srgbClr val="212529"/>
                </a:solidFill>
                <a:latin typeface="Meiryo"/>
              </a:rPr>
              <a:t>Step 4: 行ごとにsoftmax (各Queryごとに重み分布を作る)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515600" cy="30175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row 1: [0.707, 0, 0.707]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  -&gt; exp: [2.028, 1.000, 2.028]  -&gt; normalize -&gt; [0.401, 0.198, 0.401]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row 2: [1.414, 0.707, 2.121]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  -&gt; exp: [4.113, 2.028, 8.346]  -&gt; normalize -&gt; [0.284, 0.140, 0.576]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row 3: [2.121, 0.707, 2.828]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  -&gt; exp: [8.346, 2.028, 16.91]  -&gt; normalize -&gt; [0.306, 0.074, 0.620]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846320"/>
            <a:ext cx="7589520" cy="11887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         tok1    tok2    tok3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A  =  | 0.401   0.198   0.401 |   row sum = 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      | 0.284   0.140   0.576 |   "how much of each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 i="0">
                <a:solidFill>
                  <a:srgbClr val="CDD6F4"/>
                </a:solidFill>
                <a:latin typeface="Consolas"/>
              </a:rPr>
              <a:t>      | 0.306   0.074   0.620 |    Value to blend"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手計算: 出力 Y = AV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 i="0">
                <a:solidFill>
                  <a:srgbClr val="212529"/>
                </a:solidFill>
                <a:latin typeface="Meiryo"/>
              </a:rPr>
              <a:t>Step 5: Valueの重み付き和 = 情報のブレンド</a:t>
            </a:r>
          </a:p>
        </p:txBody>
      </p:sp>
      <p:pic>
        <p:nvPicPr>
          <p:cNvPr id="7" name="Picture 6" descr="eq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645920" cy="411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103120"/>
            <a:ext cx="10515600" cy="2286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y1 = 0.401*[2,0] + 0.198*[0,1] + 0.401*[2,1] = [1.604, 0.599]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y2 = 0.284*[2,0] + 0.140*[0,1] + 0.576*[2,1] = [1.720, 0.716]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y3 = 0.306*[2,0] + 0.074*[0,1] + 0.620*[2,1] = [1.851, 0.694]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84EB5"/>
                </a:solidFill>
                <a:latin typeface="Meiryo"/>
              </a:rPr>
              <a:t>Attention重み(a_ij)に従って他トークンのValueをブレンドし、自分の表現を更新 = 「文脈化」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因果的 Self-Attention (Decoder用)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43A40"/>
                </a:solidFill>
                <a:latin typeface="Meiryo"/>
              </a:rPr>
              <a:t>「未来トークンを見てはいけない」 → スコアの未来部分を </a:t>
            </a:r>
            <a:r>
              <a:rPr sz="1900" b="1" i="0">
                <a:solidFill>
                  <a:srgbClr val="DC3545"/>
                </a:solidFill>
                <a:latin typeface="Consolas"/>
              </a:rPr>
              <a:t>-inf</a:t>
            </a:r>
            <a:r>
              <a:rPr sz="1900" b="0" i="0">
                <a:solidFill>
                  <a:srgbClr val="343A40"/>
                </a:solidFill>
                <a:latin typeface="Meiryo"/>
              </a:rPr>
              <a:t> にして softmax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846320" cy="15544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Mask matrix: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|1  0  0|  pos 1: sees {1}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|1  1  0|  pos 2: sees {1,2}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|1  1  1|  pos 3: sees {1,2,3}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15544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Resulting weights: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|1.000  0      0    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|0.670  0.330  0    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|0.306  0.074  0.620|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515600" cy="12801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82880" bIns="18288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Output: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y1 = [2, 0]           &lt;- sees only self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y2 = [1.340, 0.330]   &lt;- sees tok 1,2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i="0">
                <a:solidFill>
                  <a:srgbClr val="CDD6F4"/>
                </a:solidFill>
                <a:latin typeface="Consolas"/>
              </a:rPr>
              <a:t>  y3 = [1.851, 0.694]   &lt;- sees all (last pos)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84EB5"/>
                </a:solidFill>
                <a:latin typeface="Meiryo"/>
              </a:rPr>
              <a:t>未来情報の遮断が、重み行列のゼロとして現れる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Cross-Attention (Encoder-Decoder間)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43A40"/>
                </a:solidFill>
                <a:latin typeface="Meiryo"/>
              </a:rPr>
              <a:t>Self-Attentionと式の形は全く同じ。</a:t>
            </a:r>
            <a:r>
              <a:rPr sz="1900" b="1" i="0">
                <a:solidFill>
                  <a:srgbClr val="0D6EFD"/>
                </a:solidFill>
                <a:latin typeface="Meiryo"/>
              </a:rPr>
              <a:t>Q, K, V の出どころが違うだけ。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0800" cy="10972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0D6EFD"/>
                </a:solidFill>
                <a:latin typeface="Meiryo"/>
              </a:rPr>
              <a:t>Query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 i="0">
                <a:solidFill>
                  <a:srgbClr val="343A40"/>
                </a:solidFill>
                <a:latin typeface="Meiryo"/>
              </a:rPr>
              <a:t>Decoder側 (前のdecoder層の出力)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011680"/>
            <a:ext cx="50800" cy="10972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011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98754"/>
                </a:solidFill>
                <a:latin typeface="Meiryo"/>
              </a:rPr>
              <a:t>Key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 i="0">
                <a:solidFill>
                  <a:srgbClr val="343A40"/>
                </a:solidFill>
                <a:latin typeface="Meiryo"/>
              </a:rPr>
              <a:t>Encoder出力 (memory)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011680"/>
            <a:ext cx="50800" cy="109728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011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D7E14"/>
                </a:solidFill>
                <a:latin typeface="Meiryo"/>
              </a:rPr>
              <a:t>Value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 i="0">
                <a:solidFill>
                  <a:srgbClr val="343A40"/>
                </a:solidFill>
                <a:latin typeface="Meiryo"/>
              </a:rPr>
              <a:t>Encoder出力 (memory)</a:t>
            </a:r>
          </a:p>
        </p:txBody>
      </p:sp>
      <p:pic>
        <p:nvPicPr>
          <p:cNvPr id="13" name="Picture 12" descr="eq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474720"/>
            <a:ext cx="941832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4754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84EB5"/>
                </a:solidFill>
                <a:latin typeface="Meiryo"/>
              </a:rPr>
              <a:t>Decoderトークンが「Encoderメモリ(画像+入力テキスト)」のどこを読むかを決める仕組み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重み行列はどう学習されるのか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 i="0">
                <a:solidFill>
                  <a:srgbClr val="343A40"/>
                </a:solidFill>
                <a:latin typeface="Meiryo"/>
              </a:rPr>
              <a:t>モデルが次トークン確率を出す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 i="0">
                <a:solidFill>
                  <a:srgbClr val="343A40"/>
                </a:solidFill>
                <a:latin typeface="Meiryo"/>
              </a:rPr>
              <a:t>正解との誤差(クロスエントロピー)を計算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 i="0">
                <a:solidFill>
                  <a:srgbClr val="343A40"/>
                </a:solidFill>
                <a:latin typeface="Meiryo"/>
              </a:rPr>
              <a:t>誤差逆伝播で勾配が W_Q, W_K, W_V に流れ、更新される</a:t>
            </a:r>
          </a:p>
        </p:txBody>
      </p:sp>
      <p:pic>
        <p:nvPicPr>
          <p:cNvPr id="7" name="Picture 6" descr="eq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834640"/>
            <a:ext cx="850392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931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12529"/>
                </a:solidFill>
                <a:latin typeface="Meiryo"/>
              </a:rPr>
              <a:t>この式の直感: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 i="0">
                <a:solidFill>
                  <a:srgbClr val="343A40"/>
                </a:solidFill>
                <a:latin typeface="Meiryo"/>
              </a:rPr>
              <a:t>v_j が損失を下げる方向に寄与 → </a:t>
            </a:r>
            <a:r>
              <a:rPr sz="1800" b="0" i="0">
                <a:solidFill>
                  <a:srgbClr val="343A40"/>
                </a:solidFill>
                <a:latin typeface="Meiryo"/>
              </a:rPr>
              <a:t>s_ij を上げるよう勾配が働く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 i="0">
                <a:solidFill>
                  <a:srgbClr val="343A40"/>
                </a:solidFill>
                <a:latin typeface="Meiryo"/>
              </a:rPr>
              <a:t>すると q_i と k_j の内積が増える </a:t>
            </a:r>
            <a:r>
              <a:rPr sz="1800" b="0" i="0">
                <a:solidFill>
                  <a:srgbClr val="343A40"/>
                </a:solidFill>
                <a:latin typeface="Meiryo"/>
              </a:rPr>
              <a:t>(相性が上がる)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84EB5"/>
                </a:solidFill>
                <a:latin typeface="Meiryo"/>
              </a:rPr>
              <a:t>本質: 「欲しいValueを持つKeyとQueryを、内積が大きくなる向きに整列させる」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Multi-Head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q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594360"/>
          </a:xfrm>
          <a:prstGeom prst="rect">
            <a:avLst/>
          </a:prstGeom>
        </p:spPr>
      </p:pic>
      <p:pic>
        <p:nvPicPr>
          <p:cNvPr id="7" name="Picture 6" descr="eq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1051560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43A40"/>
                </a:solidFill>
                <a:latin typeface="Meiryo"/>
              </a:rPr>
              <a:t>同じ入力から複数組の(Q,K,V)を作って並列にattentionし、結合して出力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212529"/>
                </a:solidFill>
                <a:latin typeface="Meiryo"/>
              </a:rPr>
              <a:t>なぜ必要か？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D6EFD"/>
                </a:solidFill>
                <a:latin typeface="Meiryo"/>
              </a:rPr>
              <a:t>「同じトークン列でも、見るべき関係は複数ある」から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 i="0">
                <a:solidFill>
                  <a:srgbClr val="343A40"/>
                </a:solidFill>
                <a:latin typeface="Meiryo"/>
              </a:rPr>
              <a:t>言語: </a:t>
            </a:r>
            <a:r>
              <a:rPr sz="1800" b="0" i="0">
                <a:solidFill>
                  <a:srgbClr val="343A40"/>
                </a:solidFill>
                <a:latin typeface="Meiryo"/>
              </a:rPr>
              <a:t>係り受け, 照応, 語彙的類似, 文脈上の役割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 i="0">
                <a:solidFill>
                  <a:srgbClr val="343A40"/>
                </a:solidFill>
                <a:latin typeface="Meiryo"/>
              </a:rPr>
              <a:t>画像パッチ: </a:t>
            </a:r>
            <a:r>
              <a:rPr sz="1800" b="0" i="0">
                <a:solidFill>
                  <a:srgbClr val="343A40"/>
                </a:solidFill>
                <a:latin typeface="Meiryo"/>
              </a:rPr>
              <a:t>形状の連続性, 同一物体の別パーツ, テクスチャ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700" b="0" i="0">
                <a:solidFill>
                  <a:srgbClr val="6C757D"/>
                </a:solidFill>
                <a:latin typeface="Meiryo"/>
              </a:rPr>
              <a:t>1ヘッドだけだと平均化が起きて、複数の関係を同時に捉えられない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位置埋め込み (Positional Encoding)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0D6EFD"/>
                </a:solidFill>
                <a:latin typeface="Meiryo"/>
              </a:rPr>
              <a:t>Self-Attention単体は入力の順序を区別できない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6C757D"/>
                </a:solidFill>
                <a:latin typeface="Meiryo"/>
              </a:rPr>
              <a:t>(並べ替えても出力が同じように並べ替わるだけ)</a:t>
            </a:r>
          </a:p>
        </p:txBody>
      </p:sp>
      <p:pic>
        <p:nvPicPr>
          <p:cNvPr id="7" name="Picture 6" descr="eq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60320"/>
            <a:ext cx="9418320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657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 i="0">
                <a:solidFill>
                  <a:srgbClr val="343A40"/>
                </a:solidFill>
                <a:latin typeface="Meiryo"/>
              </a:rPr>
              <a:t>Transformerは畳み込みも再帰もないので、順序情報を明示的に注入する必要がある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 i="0">
                <a:solidFill>
                  <a:srgbClr val="343A40"/>
                </a:solidFill>
                <a:latin typeface="Meiryo"/>
              </a:rPr>
              <a:t>語順が意味を変えるタスクでは、位置を入れないと区別不可能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 i="0">
                <a:solidFill>
                  <a:srgbClr val="343A40"/>
                </a:solidFill>
                <a:latin typeface="Meiryo"/>
              </a:rPr>
              <a:t>ViTでも同じ: </a:t>
            </a:r>
            <a:r>
              <a:rPr sz="1800" b="0" i="0">
                <a:solidFill>
                  <a:srgbClr val="343A40"/>
                </a:solidFill>
                <a:latin typeface="Meiryo"/>
              </a:rPr>
              <a:t>画像パッチに位置埋め込みを足してからTransformerに入れる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RT-2 / PaLI-X での Self-Attention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50800" cy="25603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0D6EFD"/>
                </a:solidFill>
                <a:latin typeface="Meiryo"/>
              </a:rPr>
              <a:t>Encoder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0" i="0">
                <a:solidFill>
                  <a:srgbClr val="343A40"/>
                </a:solidFill>
                <a:latin typeface="Meiryo"/>
              </a:rPr>
              <a:t>画像 → ViT → 画像トークン列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0" i="0">
                <a:solidFill>
                  <a:srgbClr val="343A40"/>
                </a:solidFill>
                <a:latin typeface="Meiryo"/>
              </a:rPr>
              <a:t>テキスト → token emb → テキストトークン列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0" i="0">
                <a:solidFill>
                  <a:srgbClr val="343A40"/>
                </a:solidFill>
                <a:latin typeface="Meiryo"/>
              </a:rPr>
              <a:t>連結して1本の系列に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 i="0">
                <a:solidFill>
                  <a:srgbClr val="0D6EFD"/>
                </a:solidFill>
                <a:latin typeface="Meiryo"/>
              </a:rPr>
              <a:t>双方向Self-Attention </a:t>
            </a:r>
            <a:r>
              <a:rPr sz="1500" b="0" i="0">
                <a:solidFill>
                  <a:srgbClr val="6C757D"/>
                </a:solidFill>
                <a:latin typeface="Meiryo"/>
              </a:rPr>
              <a:t>(マスクなし)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50800" cy="25603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0972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D7E14"/>
                </a:solidFill>
                <a:latin typeface="Meiryo"/>
              </a:rPr>
              <a:t>Decoder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343A40"/>
                </a:solidFill>
                <a:latin typeface="Meiryo"/>
              </a:rPr>
              <a:t>① 因果的Self-Attention </a:t>
            </a:r>
            <a:r>
              <a:rPr sz="1600" b="0" i="0">
                <a:solidFill>
                  <a:srgbClr val="343A40"/>
                </a:solidFill>
                <a:latin typeface="Meiryo"/>
              </a:rPr>
              <a:t>生成済みだけ見る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343A40"/>
                </a:solidFill>
                <a:latin typeface="Meiryo"/>
              </a:rPr>
              <a:t>② Cross-Attention </a:t>
            </a:r>
            <a:r>
              <a:rPr sz="1600" b="0" i="0">
                <a:solidFill>
                  <a:srgbClr val="343A40"/>
                </a:solidFill>
                <a:latin typeface="Meiryo"/>
              </a:rPr>
              <a:t>Q=dec, K/V=enc出力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212529"/>
                </a:solidFill>
                <a:latin typeface="Meiryo"/>
              </a:rPr>
              <a:t>RT-2 での追加ポイント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 i="0">
                <a:solidFill>
                  <a:srgbClr val="343A40"/>
                </a:solidFill>
                <a:latin typeface="Meiryo"/>
              </a:rPr>
              <a:t>Encoderは(画像+命令文)を双方向Self-Attentionで文脈化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 i="0">
                <a:solidFill>
                  <a:srgbClr val="343A40"/>
                </a:solidFill>
                <a:latin typeface="Meiryo"/>
              </a:rPr>
              <a:t>Decoderは因果的Self-Attention + Cross-Attentionで出力列を生成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 i="0">
                <a:solidFill>
                  <a:srgbClr val="343A40"/>
                </a:solidFill>
                <a:latin typeface="Meiryo"/>
              </a:rPr>
              <a:t>核心: </a:t>
            </a:r>
            <a:r>
              <a:rPr sz="1800" b="0" i="0">
                <a:solidFill>
                  <a:srgbClr val="343A40"/>
                </a:solidFill>
                <a:latin typeface="Meiryo"/>
              </a:rPr>
              <a:t>出力列が「自然言語」ではなく「行動トークン」になっているだけ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529"/>
                </a:solidFill>
                <a:latin typeface="Meiryo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C757D"/>
                </a:solidFill>
                <a:latin typeface="Meiryo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005839"/>
            <a:ext cx="457200" cy="4572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51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12529"/>
                </a:solidFill>
                <a:latin typeface="Meiryo"/>
              </a:rPr>
              <a:t>Self-Attention</a:t>
            </a:r>
            <a:r>
              <a:rPr sz="1400" b="0" i="0">
                <a:solidFill>
                  <a:srgbClr val="343A40"/>
                </a:solidFill>
                <a:latin typeface="Meiryo"/>
              </a:rPr>
              <a:t>   各トークンが列全体から必要情報を加重和で取り込み、文脈化された表現を作る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54480"/>
            <a:ext cx="457200" cy="4572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00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12529"/>
                </a:solidFill>
                <a:latin typeface="Meiryo"/>
              </a:rPr>
              <a:t>Q, K, V</a:t>
            </a:r>
            <a:r>
              <a:rPr sz="1400" b="0" i="0">
                <a:solidFill>
                  <a:srgbClr val="343A40"/>
                </a:solidFill>
                <a:latin typeface="Meiryo"/>
              </a:rPr>
              <a:t>   同じ入力から別々の線形変換で「探す軸」「タグ付けの軸」「中身の軸」を分離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4883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12529"/>
                </a:solidFill>
                <a:latin typeface="Meiryo"/>
              </a:rPr>
              <a:t>なぜ内積?</a:t>
            </a:r>
            <a:r>
              <a:rPr sz="1400" b="0" i="0">
                <a:solidFill>
                  <a:srgbClr val="343A40"/>
                </a:solidFill>
                <a:latin typeface="Meiryo"/>
              </a:rPr>
              <a:t>   方向の一致度を測れる + 行列積で全ペア一括 + W_Q,W_Kの学習で意味が生まれる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651760"/>
            <a:ext cx="457200" cy="4572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9747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12529"/>
                </a:solidFill>
                <a:latin typeface="Meiryo"/>
              </a:rPr>
              <a:t>sqrt(d_k)</a:t>
            </a:r>
            <a:r>
              <a:rPr sz="1400" b="0" i="0">
                <a:solidFill>
                  <a:srgbClr val="343A40"/>
                </a:solidFill>
                <a:latin typeface="Meiryo"/>
              </a:rPr>
              <a:t>   内積の分散がd_kに比例するのを正規化し、softmaxの飽和を防ぐ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200400"/>
            <a:ext cx="457200" cy="4572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46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12529"/>
                </a:solidFill>
                <a:latin typeface="Meiryo"/>
              </a:rPr>
              <a:t>softmax → 加重和</a:t>
            </a:r>
            <a:r>
              <a:rPr sz="1400" b="0" i="0">
                <a:solidFill>
                  <a:srgbClr val="343A40"/>
                </a:solidFill>
                <a:latin typeface="Meiryo"/>
              </a:rPr>
              <a:t>   相性スコア → 確率分布 → Valueのブレンド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eiryo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94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12529"/>
                </a:solidFill>
                <a:latin typeface="Meiryo"/>
              </a:rPr>
              <a:t>因果マスク</a:t>
            </a:r>
            <a:r>
              <a:rPr sz="1400" b="0" i="0">
                <a:solidFill>
                  <a:srgbClr val="343A40"/>
                </a:solidFill>
                <a:latin typeface="Meiryo"/>
              </a:rPr>
              <a:t>   未来トークンのスコアを -inf にして情報漏洩を防ぐ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297680"/>
            <a:ext cx="457200" cy="45720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eiryo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43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12529"/>
                </a:solidFill>
                <a:latin typeface="Meiryo"/>
              </a:rPr>
              <a:t>Cross-Attention</a:t>
            </a:r>
            <a:r>
              <a:rPr sz="1400" b="0" i="0">
                <a:solidFill>
                  <a:srgbClr val="343A40"/>
                </a:solidFill>
                <a:latin typeface="Meiryo"/>
              </a:rPr>
              <a:t>   Q=decoder, K/V=encoder。Decoderが入力全体を参照する仕組み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846320"/>
            <a:ext cx="457200" cy="45720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eiryo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892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12529"/>
                </a:solidFill>
                <a:latin typeface="Meiryo"/>
              </a:rPr>
              <a:t>Multi-Head</a:t>
            </a:r>
            <a:r>
              <a:rPr sz="1400" b="0" i="0">
                <a:solidFill>
                  <a:srgbClr val="343A40"/>
                </a:solidFill>
                <a:latin typeface="Meiryo"/>
              </a:rPr>
              <a:t>   複数の関係を同時に捉える (1ヘッドでは平均化で潰れる)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5394959"/>
            <a:ext cx="457200" cy="45720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eiryo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7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12529"/>
                </a:solidFill>
                <a:latin typeface="Meiryo"/>
              </a:rPr>
              <a:t>位置埋め込み</a:t>
            </a:r>
            <a:r>
              <a:rPr sz="1400" b="0" i="0">
                <a:solidFill>
                  <a:srgbClr val="343A40"/>
                </a:solidFill>
                <a:latin typeface="Meiryo"/>
              </a:rPr>
              <a:t>   Attention単体は順序を持てないので、位置情報を明示的に注入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5943599"/>
            <a:ext cx="457200" cy="45720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eiryo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98931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12529"/>
                </a:solidFill>
                <a:latin typeface="Meiryo"/>
              </a:rPr>
              <a:t>RT-2</a:t>
            </a:r>
            <a:r>
              <a:rPr sz="1400" b="0" i="0">
                <a:solidFill>
                  <a:srgbClr val="343A40"/>
                </a:solidFill>
                <a:latin typeface="Meiryo"/>
              </a:rPr>
              <a:t>   VLMのAttention構造はそのまま。出力が行動トークンになっただけ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